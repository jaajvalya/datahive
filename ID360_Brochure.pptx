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783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309360" y="-1005840"/>
            <a:ext cx="2743200" cy="2743200"/>
          </a:xfrm>
          <a:prstGeom prst="ellipse">
            <a:avLst/>
          </a:prstGeom>
          <a:solidFill>
            <a:srgbClr val="121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783080"/>
            <a:ext cx="7772400" cy="27432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ADCFC"/>
                </a:solidFill>
                <a:latin typeface="Calibri"/>
              </a:rPr>
              <a:t>ENTERPRISE DATA INGESTION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"/>
            <a:ext cx="6766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ID360</a:t>
            </a:r>
            <a:r>
              <a:rPr sz="1500" b="0" i="0">
                <a:solidFill>
                  <a:srgbClr val="CADCFC"/>
                </a:solidFill>
                <a:latin typeface="Cambria"/>
              </a:rPr>
              <a:t>   Bespoke Enterprise Data Connectors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1">
                <a:solidFill>
                  <a:srgbClr val="FFFFFF"/>
                </a:solidFill>
                <a:latin typeface="Calibri"/>
              </a:rPr>
              <a:t>Pull data out of someone else's platform — without third-party tools, without hurting their performance, and without inflating their bill.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29968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1B1F2E"/>
                </a:solidFill>
                <a:latin typeface="Calibri"/>
              </a:rPr>
              <a:t>Every enterprise integration starts the same way: you need data out of a platform you don't own. You can't add indexes, install agents without a change request, or assume a maintenance window — and every byte you read costs the provider money. Hand-rolled connectors get watermarks wrong, skip the audit trail, and quietly become the line item a security review won't approve.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54096"/>
            <a:ext cx="6858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B1F2E"/>
                </a:solidFill>
                <a:latin typeface="Calibri"/>
              </a:rPr>
              <a:t>ID360 solves this once, at the substrate level. </a:t>
            </a:r>
            <a:r>
              <a:rPr sz="1000" b="0" i="0">
                <a:solidFill>
                  <a:srgbClr val="1B1F2E"/>
                </a:solidFill>
                <a:latin typeface="Calibri"/>
              </a:rPr>
              <a:t>A stateless, outbound-only agent and a cloud control plane share one execution model — idempotent delivery, budget governance, hash-chained audit, envelope encryption — so a connector is never more than source-specific I/O. Eight source families. Five extraction strategies. One framework.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14216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mbria"/>
              </a:rPr>
              <a:t>KEY FEATURES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4165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4165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98264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 i="0">
                <a:solidFill>
                  <a:srgbClr val="1E2761"/>
                </a:solidFill>
                <a:latin typeface="Calibri"/>
              </a:rPr>
              <a:t>Outbound-Only Architecture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Calibri"/>
              </a:rPr>
              <a:t>The agent dials out from the provider's network; the control plane never dials in — no inbound firewall rule, no VPN.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1655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441655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4398264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 i="0">
                <a:solidFill>
                  <a:srgbClr val="1E2761"/>
                </a:solidFill>
                <a:latin typeface="Calibri"/>
              </a:rPr>
              <a:t>Cheapest-Strategy-First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Calibri"/>
              </a:rPr>
              <a:t>Every object resolves automatically to the cheapest viable strategy: storage-native, log CDC, change feed, watermark, or full snapshot.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528523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285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266944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 i="0">
                <a:solidFill>
                  <a:srgbClr val="1E2761"/>
                </a:solidFill>
                <a:latin typeface="Calibri"/>
              </a:rPr>
              <a:t>Metadata-Only Control Plane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Calibri"/>
              </a:rPr>
              <a:t>Bulk data never crosses the control plane. A compromise there leaks task metadata, never customer records.</a:t>
            </a:r>
          </a:p>
        </p:txBody>
      </p:sp>
      <p:sp>
        <p:nvSpPr>
          <p:cNvPr id="20" name="Oval 19"/>
          <p:cNvSpPr/>
          <p:nvPr/>
        </p:nvSpPr>
        <p:spPr>
          <a:xfrm>
            <a:off x="4023360" y="528523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2852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5266944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 i="0">
                <a:solidFill>
                  <a:srgbClr val="1E2761"/>
                </a:solidFill>
                <a:latin typeface="Calibri"/>
              </a:rPr>
              <a:t>Exactly-Once Delivery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Calibri"/>
              </a:rPr>
              <a:t>The watermark advances only after the sink commits, with deterministic batch paths that make replay byte-identical.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615391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539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6135624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 i="0">
                <a:solidFill>
                  <a:srgbClr val="1E2761"/>
                </a:solidFill>
                <a:latin typeface="Calibri"/>
              </a:rPr>
              <a:t>Zero-Trust Security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Calibri"/>
              </a:rPr>
              <a:t>Workload identity, task-scoped credentials with a 15-minute TTL, mTLS everywhere, and per-batch envelope encryption.</a:t>
            </a:r>
          </a:p>
        </p:txBody>
      </p:sp>
      <p:sp>
        <p:nvSpPr>
          <p:cNvPr id="26" name="Oval 25"/>
          <p:cNvSpPr/>
          <p:nvPr/>
        </p:nvSpPr>
        <p:spPr>
          <a:xfrm>
            <a:off x="4023360" y="615391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615391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6135624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 i="0">
                <a:solidFill>
                  <a:srgbClr val="1E2761"/>
                </a:solidFill>
                <a:latin typeface="Calibri"/>
              </a:rPr>
              <a:t>Hash-Chained Audit Ledger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Calibri"/>
              </a:rPr>
              <a:t>Append-only, WORM-stored, tamper-evident — answers who read what, when, and why, months later.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702259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70225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7004304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 i="0">
                <a:solidFill>
                  <a:srgbClr val="1E2761"/>
                </a:solidFill>
                <a:latin typeface="Calibri"/>
              </a:rPr>
              <a:t>Cost &amp; Performance Guardrails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Calibri"/>
              </a:rPr>
              <a:t>Budget governor, adaptive concurrency, blackout windows, and consumption reports shared with the provider.</a:t>
            </a:r>
          </a:p>
        </p:txBody>
      </p:sp>
      <p:sp>
        <p:nvSpPr>
          <p:cNvPr id="32" name="Oval 31"/>
          <p:cNvSpPr/>
          <p:nvPr/>
        </p:nvSpPr>
        <p:spPr>
          <a:xfrm>
            <a:off x="4023360" y="702259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702259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7004304"/>
            <a:ext cx="285292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9" b="1" i="0">
                <a:solidFill>
                  <a:srgbClr val="1E2761"/>
                </a:solidFill>
                <a:latin typeface="Calibri"/>
              </a:rPr>
              <a:t>Eight Source Families, One Codebase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19" b="0" i="0">
                <a:solidFill>
                  <a:srgbClr val="1B1F2E"/>
                </a:solidFill>
                <a:latin typeface="Calibri"/>
              </a:rPr>
              <a:t>Database, warehouse, lakehouse, lake, SharePoint, OneDrive, Google Drive, and mailbox — one substrate.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8129015"/>
            <a:ext cx="2148840" cy="960120"/>
          </a:xfrm>
          <a:prstGeom prst="rect">
            <a:avLst/>
          </a:prstGeom>
          <a:solidFill>
            <a:srgbClr val="F7F9FD"/>
          </a:solidFill>
          <a:ln w="9525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8220455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8750807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1" i="0">
                <a:solidFill>
                  <a:srgbClr val="555F77"/>
                </a:solidFill>
                <a:latin typeface="Calibri"/>
              </a:rPr>
              <a:t>SOURCE FAMILIES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88920" y="8129015"/>
            <a:ext cx="2148840" cy="960120"/>
          </a:xfrm>
          <a:prstGeom prst="rect">
            <a:avLst/>
          </a:prstGeom>
          <a:solidFill>
            <a:srgbClr val="F7F9FD"/>
          </a:solidFill>
          <a:ln w="9525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88920" y="8220455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8750807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1" i="0">
                <a:solidFill>
                  <a:srgbClr val="555F77"/>
                </a:solidFill>
                <a:latin typeface="Calibri"/>
              </a:rPr>
              <a:t>EXTRACTION STRATEGIES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0640" y="8129015"/>
            <a:ext cx="2148840" cy="960120"/>
          </a:xfrm>
          <a:prstGeom prst="rect">
            <a:avLst/>
          </a:prstGeom>
          <a:solidFill>
            <a:srgbClr val="F7F9FD"/>
          </a:solidFill>
          <a:ln w="9525">
            <a:solidFill>
              <a:srgbClr val="DD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20640" y="8220455"/>
            <a:ext cx="2148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1E2761"/>
                </a:solidFill>
                <a:latin typeface="Cambria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8750807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1" i="0">
                <a:solidFill>
                  <a:srgbClr val="555F77"/>
                </a:solidFill>
                <a:latin typeface="Calibri"/>
              </a:rPr>
              <a:t>INBOUND FIREWALL RULES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548640" y="-640080"/>
            <a:ext cx="1828800" cy="1828800"/>
          </a:xfrm>
          <a:prstGeom prst="ellipse">
            <a:avLst/>
          </a:prstGeom>
          <a:solidFill>
            <a:srgbClr val="121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6858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CORE COMPONENTS &amp;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6858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CADCFC"/>
                </a:solidFill>
                <a:latin typeface="Calibri"/>
              </a:rPr>
              <a:t>A multi-agent execution substrate that turns every connector into source-specific I/O.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25880"/>
          <a:ext cx="6858000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89204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 i="0">
                          <a:solidFill>
                            <a:srgbClr val="FFFFFF"/>
                          </a:solidFill>
                          <a:latin typeface="Cambria"/>
                        </a:rPr>
                        <a:t>Function</a:t>
                      </a:r>
                    </a:p>
                  </a:txBody>
                  <a:tcPr marL="73152" marR="73152" marT="27432" marB="27432" anchor="ctr"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E2761"/>
                          </a:solidFill>
                          <a:latin typeface="Calibri"/>
                        </a:rPr>
                        <a:t>Control Plane (FastAPI)</a:t>
                      </a:r>
                    </a:p>
                  </a:txBody>
                  <a:tcPr marL="73152" marR="73152" marT="27432" marB="27432" anchor="ctr">
                    <a:solidFill>
                      <a:srgbClr val="F1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B1F2E"/>
                          </a:solidFill>
                          <a:latin typeface="Calibri"/>
                        </a:rPr>
                        <a:t>Registry, scheduler, policy engine, schema registry, audit ledger, secret broker — metadata only, never bulk data.</a:t>
                      </a:r>
                    </a:p>
                  </a:txBody>
                  <a:tcPr marL="73152" marR="73152" marT="27432" marB="27432" anchor="ctr">
                    <a:solidFill>
                      <a:srgbClr val="F1F4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E2761"/>
                          </a:solidFill>
                          <a:latin typeface="Calibri"/>
                        </a:rPr>
                        <a:t>ID360 Agent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B1F2E"/>
                          </a:solidFill>
                          <a:latin typeface="Calibri"/>
                        </a:rPr>
                        <a:t>Stateless executor with an encrypted local WAL; runs the strategy resolver and budget governor inside the provider's network.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E2761"/>
                          </a:solidFill>
                          <a:latin typeface="Calibri"/>
                        </a:rPr>
                        <a:t>Strategy Resolver</a:t>
                      </a:r>
                    </a:p>
                  </a:txBody>
                  <a:tcPr marL="73152" marR="73152" marT="27432" marB="27432" anchor="ctr">
                    <a:solidFill>
                      <a:srgbClr val="F1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B1F2E"/>
                          </a:solidFill>
                          <a:latin typeface="Calibri"/>
                        </a:rPr>
                        <a:t>Picks the cheapest viable extraction technique per object, from storage-native down to full snapshot.</a:t>
                      </a:r>
                    </a:p>
                  </a:txBody>
                  <a:tcPr marL="73152" marR="73152" marT="27432" marB="27432" anchor="ctr">
                    <a:solidFill>
                      <a:srgbClr val="F1F4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E2761"/>
                          </a:solidFill>
                          <a:latin typeface="Calibri"/>
                        </a:rPr>
                        <a:t>Secret Broker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B1F2E"/>
                          </a:solidFill>
                          <a:latin typeface="Calibri"/>
                        </a:rPr>
                        <a:t>Mints short-lived, task-scoped credentials from the tenant's own vault; never stores long-lived keys.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E2761"/>
                          </a:solidFill>
                          <a:latin typeface="Calibri"/>
                        </a:rPr>
                        <a:t>Audit Ledger</a:t>
                      </a:r>
                    </a:p>
                  </a:txBody>
                  <a:tcPr marL="73152" marR="73152" marT="27432" marB="27432" anchor="ctr">
                    <a:solidFill>
                      <a:srgbClr val="F1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B1F2E"/>
                          </a:solidFill>
                          <a:latin typeface="Calibri"/>
                        </a:rPr>
                        <a:t>Hash-chained, WORM-stored record of every decision, exportable as a signed bundle for auditors.</a:t>
                      </a:r>
                    </a:p>
                  </a:txBody>
                  <a:tcPr marL="73152" marR="73152" marT="27432" marB="27432" anchor="ctr">
                    <a:solidFill>
                      <a:srgbClr val="F1F4FC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E2761"/>
                          </a:solidFill>
                          <a:latin typeface="Calibri"/>
                        </a:rPr>
                        <a:t>Budget Governor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B1F2E"/>
                          </a:solidFill>
                          <a:latin typeface="Calibri"/>
                        </a:rPr>
                        <a:t>Multi-axis token buckets plus cumulative caps; hard stop and dual-side notification on breach.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1" i="0">
                          <a:solidFill>
                            <a:srgbClr val="1E2761"/>
                          </a:solidFill>
                          <a:latin typeface="Calibri"/>
                        </a:rPr>
                        <a:t>Reconciliation Engine</a:t>
                      </a:r>
                    </a:p>
                  </a:txBody>
                  <a:tcPr marL="73152" marR="73152" marT="27432" marB="27432" anchor="ctr">
                    <a:solidFill>
                      <a:srgbClr val="F1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5000"/>
                        </a:lnSpc>
                        <a:spcAft>
                          <a:spcPts val="0"/>
                        </a:spcAft>
                      </a:pPr>
                      <a:r>
                        <a:rPr sz="860" b="0" i="0">
                          <a:solidFill>
                            <a:srgbClr val="1B1F2E"/>
                          </a:solidFill>
                          <a:latin typeface="Calibri"/>
                        </a:rPr>
                        <a:t>Count, key-set, checksum, and full-hash proofs that every row that should move, did.</a:t>
                      </a:r>
                    </a:p>
                  </a:txBody>
                  <a:tcPr marL="73152" marR="73152" marT="27432" marB="27432" anchor="ctr">
                    <a:solidFill>
                      <a:srgbClr val="F1F4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873751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WHY CHOOSE ID360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02936"/>
            <a:ext cx="685800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60" b="1" i="0">
                <a:solidFill>
                  <a:srgbClr val="1E2761"/>
                </a:solidFill>
                <a:latin typeface="Calibri"/>
              </a:rPr>
              <a:t>Zero Inbound Footprint</a:t>
            </a:r>
            <a:r>
              <a:rPr sz="960" b="0" i="0">
                <a:solidFill>
                  <a:srgbClr val="1B1F2E"/>
                </a:solidFill>
                <a:latin typeface="Calibri"/>
              </a:rPr>
              <a:t>  Passes enterprise security review by default.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60" b="1" i="0">
                <a:solidFill>
                  <a:srgbClr val="1E2761"/>
                </a:solidFill>
                <a:latin typeface="Calibri"/>
              </a:rPr>
              <a:t>Provider-Safe by Design</a:t>
            </a:r>
            <a:r>
              <a:rPr sz="960" b="0" i="0">
                <a:solidFill>
                  <a:srgbClr val="1B1F2E"/>
                </a:solidFill>
                <a:latin typeface="Calibri"/>
              </a:rPr>
              <a:t>  Every extraction is priced, budgeted, and blackout-aware before it runs.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60" b="1" i="0">
                <a:solidFill>
                  <a:srgbClr val="1E2761"/>
                </a:solidFill>
                <a:latin typeface="Calibri"/>
              </a:rPr>
              <a:t>Full Custody Trail</a:t>
            </a:r>
            <a:r>
              <a:rPr sz="960" b="0" i="0">
                <a:solidFill>
                  <a:srgbClr val="1B1F2E"/>
                </a:solidFill>
                <a:latin typeface="Calibri"/>
              </a:rPr>
              <a:t>  A hash-chained ledger answers who pulled a row, months after the fact.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60" b="1" i="0">
                <a:solidFill>
                  <a:srgbClr val="1E2761"/>
                </a:solidFill>
                <a:latin typeface="Calibri"/>
              </a:rPr>
              <a:t>One Substrate, Eight Families</a:t>
            </a:r>
            <a:r>
              <a:rPr sz="960" b="0" i="0">
                <a:solidFill>
                  <a:srgbClr val="1B1F2E"/>
                </a:solidFill>
                <a:latin typeface="Calibri"/>
              </a:rPr>
              <a:t>  New connectors are source-specific I/O only — the hard parts are solved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903719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mbria"/>
              </a:rPr>
              <a:t>SOURCE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232903"/>
            <a:ext cx="6858000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40" b="1" i="0">
                <a:solidFill>
                  <a:srgbClr val="1E2761"/>
                </a:solidFill>
                <a:latin typeface="Calibri"/>
              </a:rPr>
              <a:t>Databases</a:t>
            </a:r>
            <a:r>
              <a:rPr sz="940" b="0" i="0">
                <a:solidFill>
                  <a:srgbClr val="1B1F2E"/>
                </a:solidFill>
                <a:latin typeface="Calibri"/>
              </a:rPr>
              <a:t>  Oracle, SQL Server, PostgreSQL, MySQL, Db2, MongoDB — log CDC where granted, watermark otherwise, always off a replica.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40" b="1" i="0">
                <a:solidFill>
                  <a:srgbClr val="1E2761"/>
                </a:solidFill>
                <a:latin typeface="Calibri"/>
              </a:rPr>
              <a:t>Data Warehouses</a:t>
            </a:r>
            <a:r>
              <a:rPr sz="940" b="0" i="0">
                <a:solidFill>
                  <a:srgbClr val="1B1F2E"/>
                </a:solidFill>
                <a:latin typeface="Calibri"/>
              </a:rPr>
              <a:t>  Snowflake, BigQuery, Redshift, Synapse, Teradata — bulk unload to a stage, roughly 10x cheaper than a JDBC cursor.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40" b="1" i="0">
                <a:solidFill>
                  <a:srgbClr val="1E2761"/>
                </a:solidFill>
                <a:latin typeface="Calibri"/>
              </a:rPr>
              <a:t>Lakehouse &amp; Lake</a:t>
            </a:r>
            <a:r>
              <a:rPr sz="940" b="0" i="0">
                <a:solidFill>
                  <a:srgbClr val="1B1F2E"/>
                </a:solidFill>
                <a:latin typeface="Calibri"/>
              </a:rPr>
              <a:t>  Iceberg, Delta, Hudi, S3, ADLS, HDFS — direct manifest reads at near-zero provider compute.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40" b="1" i="0">
                <a:solidFill>
                  <a:srgbClr val="1E2761"/>
                </a:solidFill>
                <a:latin typeface="Calibri"/>
              </a:rPr>
              <a:t>Collaboration &amp; Mail</a:t>
            </a:r>
            <a:r>
              <a:rPr sz="940" b="0" i="0">
                <a:solidFill>
                  <a:srgbClr val="1B1F2E"/>
                </a:solidFill>
                <a:latin typeface="Calibri"/>
              </a:rPr>
              <a:t>  SharePoint, OneDrive, Google Drive, Exchange, Gmail, IMAP — change-feed driven and ACL-aware.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9464040"/>
            <a:ext cx="7772400" cy="5943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9528048"/>
            <a:ext cx="6858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1">
                <a:solidFill>
                  <a:srgbClr val="CADCFC"/>
                </a:solidFill>
                <a:latin typeface="Calibri"/>
              </a:rPr>
              <a:t>Built for GDPR, SOC 2, ISO 27001, and HIPAA-aligned environments.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729216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[your-domain.com]</a:t>
            </a:r>
            <a:r>
              <a:rPr sz="919" b="0" i="0">
                <a:solidFill>
                  <a:srgbClr val="CADCFC"/>
                </a:solidFill>
                <a:latin typeface="Calibri"/>
              </a:rPr>
              <a:t>      |      </a:t>
            </a:r>
            <a:r>
              <a:rPr sz="919" b="1" i="0">
                <a:solidFill>
                  <a:srgbClr val="FFFFFF"/>
                </a:solidFill>
                <a:latin typeface="Calibri"/>
              </a:rPr>
              <a:t>[contact@your-domain.com]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