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771900" cy="5321300"/>
  <p:notesSz cx="6858000" cy="9144000"/>
  <p:embeddedFontLst>
    <p:embeddedFont>
      <p:font typeface="Calibri (MS)" panose="020B0604020202020204" charset="0"/>
      <p:regular r:id="rId5"/>
    </p:embeddedFont>
    <p:embeddedFont>
      <p:font typeface="Poppins" panose="00000500000000000000" pitchFamily="2" charset="0"/>
      <p:regular r:id="rId6"/>
      <p:bold r:id="rId7"/>
      <p:italic r:id="rId8"/>
      <p:boldItalic r:id="rId9"/>
    </p:embeddedFont>
    <p:embeddedFont>
      <p:font typeface="Poppins Bold" panose="00000800000000000000" charset="0"/>
      <p:regular r:id="rId10"/>
      <p:bold r:id="rId11"/>
    </p:embeddedFont>
    <p:embeddedFont>
      <p:font typeface="Poppins Light" panose="00000400000000000000" pitchFamily="2" charset="0"/>
      <p:regular r:id="rId12"/>
      <p:italic r:id="rId13"/>
    </p:embeddedFont>
    <p:embeddedFont>
      <p:font typeface="Poppins Medium" panose="00000600000000000000" pitchFamily="2" charset="0"/>
      <p:regular r:id="rId14"/>
      <p:italic r:id="rId15"/>
    </p:embeddedFont>
    <p:embeddedFont>
      <p:font typeface="Poppins Thin" panose="00000300000000000000" pitchFamily="2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20" d="100"/>
          <a:sy n="220" d="100"/>
        </p:scale>
        <p:origin x="247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62363" y="512763"/>
            <a:ext cx="18192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62363" y="512763"/>
            <a:ext cx="18192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60000"/>
              </a:srgbClr>
            </a:gs>
            <a:gs pos="100000">
              <a:srgbClr val="28CCFD">
                <a:alpha val="29019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217" y="453587"/>
            <a:ext cx="2964079" cy="378263"/>
            <a:chOff x="0" y="0"/>
            <a:chExt cx="3952106" cy="504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2106" cy="504351"/>
            </a:xfrm>
            <a:custGeom>
              <a:avLst/>
              <a:gdLst/>
              <a:ahLst/>
              <a:cxnLst/>
              <a:rect l="l" t="t" r="r" b="b"/>
              <a:pathLst>
                <a:path w="3952106" h="504351">
                  <a:moveTo>
                    <a:pt x="0" y="0"/>
                  </a:moveTo>
                  <a:lnTo>
                    <a:pt x="3952106" y="0"/>
                  </a:lnTo>
                  <a:lnTo>
                    <a:pt x="3952106" y="504351"/>
                  </a:lnTo>
                  <a:lnTo>
                    <a:pt x="0" y="504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52106" cy="55197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504"/>
                </a:lnSpc>
              </a:pPr>
              <a:r>
                <a:rPr lang="en-US" sz="850" b="1" dirty="0">
                  <a:solidFill>
                    <a:srgbClr val="0C0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ACL </a:t>
              </a:r>
              <a:r>
                <a:rPr lang="en-US" sz="850" b="1" dirty="0" err="1">
                  <a:solidFill>
                    <a:srgbClr val="0C0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DataHive</a:t>
              </a:r>
              <a:r>
                <a:rPr lang="en-US" sz="850" b="1" dirty="0">
                  <a:solidFill>
                    <a:srgbClr val="0C0C0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(Data Intelligence)</a:t>
              </a:r>
            </a:p>
            <a:p>
              <a:pPr>
                <a:lnSpc>
                  <a:spcPts val="1333"/>
                </a:lnSpc>
              </a:pPr>
              <a:endParaRPr lang="en-US" sz="850" b="1" dirty="0">
                <a:solidFill>
                  <a:srgbClr val="0C0C0C"/>
                </a:solidFill>
                <a:latin typeface="Poppins Bold"/>
                <a:ea typeface="Poppins Bold"/>
                <a:cs typeface="Poppin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921000">
            <a:off x="2618106" y="919973"/>
            <a:ext cx="738191" cy="736420"/>
            <a:chOff x="0" y="0"/>
            <a:chExt cx="1755477" cy="1751268"/>
          </a:xfrm>
        </p:grpSpPr>
        <p:sp>
          <p:nvSpPr>
            <p:cNvPr id="6" name="Freeform 6"/>
            <p:cNvSpPr/>
            <p:nvPr/>
          </p:nvSpPr>
          <p:spPr>
            <a:xfrm>
              <a:off x="-53213" y="-185928"/>
              <a:ext cx="1808607" cy="2043684"/>
            </a:xfrm>
            <a:custGeom>
              <a:avLst/>
              <a:gdLst/>
              <a:ahLst/>
              <a:cxnLst/>
              <a:rect l="l" t="t" r="r" b="b"/>
              <a:pathLst>
                <a:path w="1808607" h="2043684">
                  <a:moveTo>
                    <a:pt x="86487" y="1155573"/>
                  </a:moveTo>
                  <a:cubicBezTo>
                    <a:pt x="0" y="896874"/>
                    <a:pt x="77978" y="491871"/>
                    <a:pt x="364998" y="369697"/>
                  </a:cubicBezTo>
                  <a:cubicBezTo>
                    <a:pt x="652018" y="247523"/>
                    <a:pt x="1808607" y="0"/>
                    <a:pt x="1808607" y="423037"/>
                  </a:cubicBezTo>
                  <a:cubicBezTo>
                    <a:pt x="1808607" y="846074"/>
                    <a:pt x="1170940" y="1799590"/>
                    <a:pt x="883920" y="1921637"/>
                  </a:cubicBezTo>
                  <a:cubicBezTo>
                    <a:pt x="596900" y="2043684"/>
                    <a:pt x="172974" y="1414145"/>
                    <a:pt x="86487" y="1155573"/>
                  </a:cubicBezTo>
                  <a:close/>
                </a:path>
              </a:pathLst>
            </a:custGeom>
            <a:solidFill>
              <a:srgbClr val="FA660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9967" y="183155"/>
            <a:ext cx="790912" cy="230288"/>
            <a:chOff x="0" y="0"/>
            <a:chExt cx="1054549" cy="3070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4608" cy="307086"/>
            </a:xfrm>
            <a:custGeom>
              <a:avLst/>
              <a:gdLst/>
              <a:ahLst/>
              <a:cxnLst/>
              <a:rect l="l" t="t" r="r" b="b"/>
              <a:pathLst>
                <a:path w="1054608" h="307086">
                  <a:moveTo>
                    <a:pt x="0" y="0"/>
                  </a:moveTo>
                  <a:lnTo>
                    <a:pt x="1054608" y="0"/>
                  </a:lnTo>
                  <a:lnTo>
                    <a:pt x="1054608" y="307086"/>
                  </a:lnTo>
                  <a:lnTo>
                    <a:pt x="0" y="307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5" r="5" b="-7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6945" y="1790616"/>
            <a:ext cx="1096606" cy="385802"/>
            <a:chOff x="0" y="-121760"/>
            <a:chExt cx="1462141" cy="5144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2141" cy="392642"/>
            </a:xfrm>
            <a:custGeom>
              <a:avLst/>
              <a:gdLst/>
              <a:ahLst/>
              <a:cxnLst/>
              <a:rect l="l" t="t" r="r" b="b"/>
              <a:pathLst>
                <a:path w="1462141" h="392642">
                  <a:moveTo>
                    <a:pt x="0" y="0"/>
                  </a:moveTo>
                  <a:lnTo>
                    <a:pt x="1462141" y="0"/>
                  </a:lnTo>
                  <a:lnTo>
                    <a:pt x="1462141" y="392642"/>
                  </a:lnTo>
                  <a:lnTo>
                    <a:pt x="0" y="39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21760"/>
              <a:ext cx="1462141" cy="21226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3"/>
                </a:lnSpc>
              </a:pPr>
              <a:r>
                <a:rPr lang="en-US" sz="602" b="1" spc="0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Features :</a:t>
              </a:r>
            </a:p>
            <a:p>
              <a:pPr algn="l">
                <a:lnSpc>
                  <a:spcPts val="723"/>
                </a:lnSpc>
              </a:pPr>
              <a:endParaRPr lang="en-US" sz="602" b="1" spc="0" dirty="0">
                <a:solidFill>
                  <a:srgbClr val="008CE5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-9741000">
            <a:off x="2170847" y="3052069"/>
            <a:ext cx="1525622" cy="1469569"/>
            <a:chOff x="-76761" y="-163939"/>
            <a:chExt cx="2293562" cy="1996488"/>
          </a:xfrm>
        </p:grpSpPr>
        <p:sp>
          <p:nvSpPr>
            <p:cNvPr id="13" name="Freeform 13"/>
            <p:cNvSpPr/>
            <p:nvPr/>
          </p:nvSpPr>
          <p:spPr>
            <a:xfrm rot="9841753">
              <a:off x="-76761" y="-163939"/>
              <a:ext cx="2293562" cy="1996488"/>
            </a:xfrm>
            <a:custGeom>
              <a:avLst/>
              <a:gdLst/>
              <a:ahLst/>
              <a:cxnLst/>
              <a:rect l="l" t="t" r="r" b="b"/>
              <a:pathLst>
                <a:path w="2293561" h="1996489">
                  <a:moveTo>
                    <a:pt x="2244129" y="290077"/>
                  </a:moveTo>
                  <a:cubicBezTo>
                    <a:pt x="2293561" y="580310"/>
                    <a:pt x="2049324" y="1744345"/>
                    <a:pt x="1691319" y="1870417"/>
                  </a:cubicBezTo>
                  <a:cubicBezTo>
                    <a:pt x="1333313" y="1996489"/>
                    <a:pt x="0" y="1383203"/>
                    <a:pt x="96305" y="1046701"/>
                  </a:cubicBezTo>
                  <a:cubicBezTo>
                    <a:pt x="192610" y="710198"/>
                    <a:pt x="1036895" y="255403"/>
                    <a:pt x="1394813" y="129174"/>
                  </a:cubicBezTo>
                  <a:cubicBezTo>
                    <a:pt x="1752731" y="2945"/>
                    <a:pt x="2194784" y="0"/>
                    <a:pt x="2244129" y="290077"/>
                  </a:cubicBezTo>
                  <a:close/>
                </a:path>
              </a:pathLst>
            </a:custGeom>
            <a:blipFill>
              <a:blip r:embed="rId4"/>
              <a:stretch>
                <a:fillRect l="-25228" t="-14776" r="-9478" b="-815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62257" y="871814"/>
            <a:ext cx="1290221" cy="859610"/>
          </a:xfrm>
          <a:custGeom>
            <a:avLst/>
            <a:gdLst/>
            <a:ahLst/>
            <a:cxnLst/>
            <a:rect l="l" t="t" r="r" b="b"/>
            <a:pathLst>
              <a:path w="1290221" h="859610">
                <a:moveTo>
                  <a:pt x="0" y="0"/>
                </a:moveTo>
                <a:lnTo>
                  <a:pt x="1290222" y="0"/>
                </a:lnTo>
                <a:lnTo>
                  <a:pt x="1290222" y="859610"/>
                </a:lnTo>
                <a:lnTo>
                  <a:pt x="0" y="85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86945" y="763289"/>
            <a:ext cx="2031120" cy="98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"/>
              </a:lnSpc>
            </a:pPr>
            <a:r>
              <a:rPr lang="en-US" sz="500" spc="0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Modern enterprise data architectures are heavily fragmented. Organizations typically stitch together 6-to-12-point solutions-a separate tool for ingestion, </a:t>
            </a:r>
            <a:r>
              <a:rPr lang="en-US" sz="500" spc="0" dirty="0" err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dbt</a:t>
            </a:r>
            <a:r>
              <a:rPr lang="en-US" sz="500" spc="0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for transformation, an external vendor for quality, a standalone governance tool, and distinct APM/monitoring agents.</a:t>
            </a:r>
          </a:p>
          <a:p>
            <a:pPr algn="l">
              <a:lnSpc>
                <a:spcPts val="723"/>
              </a:lnSpc>
            </a:pPr>
            <a:endParaRPr lang="en-US" sz="548" spc="0" dirty="0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723"/>
              </a:lnSpc>
            </a:pPr>
            <a:r>
              <a:rPr lang="en-US" sz="500" spc="0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The solution, ACL </a:t>
            </a:r>
            <a:r>
              <a:rPr lang="en-US" sz="500" spc="0" dirty="0" err="1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DataHive</a:t>
            </a:r>
            <a:r>
              <a:rPr lang="en-US" sz="500" spc="0" dirty="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, is a transition from a fragmented toolset to a Unified Enterprise Data Substrate. Instead of gluing together disparate engines, a single execution foundation embeds security, observability, and quality directly into the data movement and transformation layer.</a:t>
            </a:r>
            <a:endParaRPr lang="en-US" sz="500" spc="0" dirty="0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6944" y="1881936"/>
            <a:ext cx="2175313" cy="3669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57"/>
              </a:lnSpc>
            </a:pPr>
            <a:r>
              <a:rPr lang="en-US" sz="500" b="1" spc="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Data Ingestion</a:t>
            </a:r>
            <a:r>
              <a:rPr lang="en-US" sz="500" spc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- Uses direct file-level reads (Apache Iceberg / Delta Lake logs), database WAL/</a:t>
            </a:r>
            <a:r>
              <a:rPr lang="en-US" sz="500" spc="0" dirty="0" err="1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binlog</a:t>
            </a:r>
            <a:r>
              <a:rPr lang="en-US" sz="500" spc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CDC with replication-slot lag safety, and engine-native bulk exports (COPY INTO). Ingestions are pre-priced via EXPLAIN dry-runs and governed by hard multi-dimensional budgets (rows, bytes, API calls).</a:t>
            </a:r>
          </a:p>
          <a:p>
            <a:pPr algn="just">
              <a:lnSpc>
                <a:spcPts val="657"/>
              </a:lnSpc>
            </a:pPr>
            <a:endParaRPr lang="en-US" sz="548" spc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algn="just">
              <a:lnSpc>
                <a:spcPts val="657"/>
              </a:lnSpc>
            </a:pPr>
            <a:r>
              <a:rPr lang="en-US" sz="500" b="1" spc="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Data Pipelines </a:t>
            </a:r>
            <a:r>
              <a:rPr lang="en-US" sz="500" spc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Pipelines operate on idempotent, at-least-once delivery semantics where state advances only after target durability is confirmed. Built-in, adaptive TCP-style concurrency control (AIMD) handles throttling dynamically without human intervention.</a:t>
            </a:r>
            <a:endParaRPr lang="en-US" sz="500" spc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algn="just">
              <a:lnSpc>
                <a:spcPts val="657"/>
              </a:lnSpc>
            </a:pPr>
            <a:endParaRPr lang="en-US" sz="600" spc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algn="just">
              <a:lnSpc>
                <a:spcPts val="657"/>
              </a:lnSpc>
            </a:pPr>
            <a:r>
              <a:rPr lang="en-US" sz="5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Data Transformation 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- In-engine, columnar execution (Arrow, </a:t>
            </a:r>
            <a:r>
              <a:rPr lang="en-US" sz="50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DuckDB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, or native warehouse pushdown) processes transformations directly where data sits. Data is transformed incrementally using snapshot diffs rather than full table re-scans.</a:t>
            </a:r>
          </a:p>
          <a:p>
            <a:pPr algn="just">
              <a:lnSpc>
                <a:spcPts val="657"/>
              </a:lnSpc>
            </a:pPr>
            <a:endParaRPr lang="en-US" sz="500" dirty="0">
              <a:solidFill>
                <a:srgbClr val="000000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  <a:p>
            <a:pPr algn="just">
              <a:lnSpc>
                <a:spcPts val="657"/>
              </a:lnSpc>
            </a:pPr>
            <a:r>
              <a:rPr lang="en-US" sz="500" b="1" spc="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Data Quality – 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Quality checks (schema verification, freshness, null bounds, row-hash integrity) execute directly within the pipeline stream. "Poison records" are automatically routed to a Dead Letter Queue (DLQ) without halting the broader pipeline run.</a:t>
            </a:r>
          </a:p>
          <a:p>
            <a:pPr algn="just">
              <a:lnSpc>
                <a:spcPts val="657"/>
              </a:lnSpc>
            </a:pPr>
            <a:endParaRPr lang="en-US" sz="5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Poppins Bold"/>
            </a:endParaRPr>
          </a:p>
          <a:p>
            <a:pPr algn="just">
              <a:lnSpc>
                <a:spcPts val="657"/>
              </a:lnSpc>
            </a:pPr>
            <a:r>
              <a:rPr lang="en-US" sz="500" b="1" spc="0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Governance &amp; Compliance </a:t>
            </a:r>
            <a:r>
              <a:rPr lang="en-US" sz="500" spc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Row filters and column masking are injected directly into source extraction queries—unapproved fields are never fetched into memory. All operations log to an append-only, cryptographically hash-chained audit ledger stored in Write-Once-Read-Many (WORM) compliance mode, enabling tenant-controlled crypto-shredding via Key Management Service (KMS) revocation.</a:t>
            </a:r>
          </a:p>
          <a:p>
            <a:pPr algn="just">
              <a:lnSpc>
                <a:spcPts val="657"/>
              </a:lnSpc>
            </a:pPr>
            <a:endParaRPr lang="en-US" sz="500" spc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  <a:p>
            <a:pPr algn="just">
              <a:lnSpc>
                <a:spcPts val="657"/>
              </a:lnSpc>
            </a:pPr>
            <a:r>
              <a:rPr lang="en-US" sz="500" b="1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Monitoring &amp; Management 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– Universal </a:t>
            </a:r>
            <a:r>
              <a:rPr lang="en-US" sz="50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OpenTelemetry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 trace IDs (</a:t>
            </a:r>
            <a:r>
              <a:rPr lang="en-US" sz="500" dirty="0" err="1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run_id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 Bold"/>
              </a:rPr>
              <a:t>) propagate through every query tag, API request, and storage commit. Gives engineering and FinOps teams real-time visibility into exact dollar costs per data asset, pipeline freshness SLIs, and CDC lag thresholds.</a:t>
            </a:r>
            <a:endParaRPr lang="en-US" sz="50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>
              <a:lnSpc>
                <a:spcPts val="657"/>
              </a:lnSpc>
            </a:pPr>
            <a:endParaRPr lang="en-US" sz="548" dirty="0">
              <a:solidFill>
                <a:srgbClr val="000000"/>
              </a:solidFill>
              <a:latin typeface="Poppins" panose="00000500000000000000" pitchFamily="2" charset="0"/>
              <a:ea typeface="Poppins Bold"/>
              <a:cs typeface="Poppins" panose="00000500000000000000" pitchFamily="2" charset="0"/>
              <a:sym typeface="Poppins Bold"/>
            </a:endParaRPr>
          </a:p>
          <a:p>
            <a:pPr algn="just">
              <a:lnSpc>
                <a:spcPts val="657"/>
              </a:lnSpc>
            </a:pPr>
            <a:r>
              <a:rPr lang="en-US" sz="500" b="1" dirty="0">
                <a:solidFill>
                  <a:srgbClr val="000000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"/>
              </a:rPr>
              <a:t>Data Modeling &amp; Serving Downstream - </a:t>
            </a:r>
            <a:r>
              <a:rPr lang="en-US" sz="50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Data is modeled once using standardized open storage formats (Parquet / Iceberg) and served across operational BI, reverse ETL, and vector/AI workloads via columnar streaming APIs. Ensures every downstream consumer works from a single, governed source of truth.</a:t>
            </a:r>
            <a:endParaRPr lang="en-US" sz="500" spc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514766" y="2074908"/>
            <a:ext cx="1276184" cy="48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5"/>
              </a:lnSpc>
            </a:pPr>
            <a:r>
              <a:rPr lang="en-US" sz="650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One substrate. Zero noise. Enterprise data ingestion, perfected.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60000"/>
              </a:srgbClr>
            </a:gs>
            <a:gs pos="100000">
              <a:srgbClr val="28CCFD">
                <a:alpha val="29019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090832" y="4772112"/>
            <a:ext cx="667776" cy="657317"/>
            <a:chOff x="0" y="0"/>
            <a:chExt cx="890368" cy="876423"/>
          </a:xfrm>
        </p:grpSpPr>
        <p:sp>
          <p:nvSpPr>
            <p:cNvPr id="3" name="Freeform 3" descr="A picture containing drawing  Description automatically generated"/>
            <p:cNvSpPr/>
            <p:nvPr/>
          </p:nvSpPr>
          <p:spPr>
            <a:xfrm>
              <a:off x="0" y="0"/>
              <a:ext cx="890397" cy="876427"/>
            </a:xfrm>
            <a:custGeom>
              <a:avLst/>
              <a:gdLst/>
              <a:ahLst/>
              <a:cxnLst/>
              <a:rect l="l" t="t" r="r" b="b"/>
              <a:pathLst>
                <a:path w="890397" h="876427">
                  <a:moveTo>
                    <a:pt x="0" y="0"/>
                  </a:moveTo>
                  <a:lnTo>
                    <a:pt x="890397" y="0"/>
                  </a:lnTo>
                  <a:lnTo>
                    <a:pt x="890397" y="876427"/>
                  </a:lnTo>
                  <a:lnTo>
                    <a:pt x="0" y="876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" r="3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9224" y="4627573"/>
            <a:ext cx="3667530" cy="5418"/>
            <a:chOff x="0" y="0"/>
            <a:chExt cx="4890041" cy="7225"/>
          </a:xfrm>
        </p:grpSpPr>
        <p:sp>
          <p:nvSpPr>
            <p:cNvPr id="5" name="Freeform 5"/>
            <p:cNvSpPr/>
            <p:nvPr/>
          </p:nvSpPr>
          <p:spPr>
            <a:xfrm>
              <a:off x="3429" y="0"/>
              <a:ext cx="4883150" cy="7239"/>
            </a:xfrm>
            <a:custGeom>
              <a:avLst/>
              <a:gdLst/>
              <a:ahLst/>
              <a:cxnLst/>
              <a:rect l="l" t="t" r="r" b="b"/>
              <a:pathLst>
                <a:path w="4883150" h="7239">
                  <a:moveTo>
                    <a:pt x="0" y="0"/>
                  </a:moveTo>
                  <a:lnTo>
                    <a:pt x="4883150" y="254"/>
                  </a:lnTo>
                  <a:lnTo>
                    <a:pt x="4883150" y="7239"/>
                  </a:lnTo>
                  <a:lnTo>
                    <a:pt x="0" y="6985"/>
                  </a:lnTo>
                  <a:close/>
                </a:path>
              </a:pathLst>
            </a:custGeom>
            <a:solidFill>
              <a:srgbClr val="BFBFBF">
                <a:alpha val="2000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7216" y="4681563"/>
            <a:ext cx="563189" cy="163787"/>
            <a:chOff x="0" y="0"/>
            <a:chExt cx="750919" cy="21838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0951" cy="218440"/>
            </a:xfrm>
            <a:custGeom>
              <a:avLst/>
              <a:gdLst/>
              <a:ahLst/>
              <a:cxnLst/>
              <a:rect l="l" t="t" r="r" b="b"/>
              <a:pathLst>
                <a:path w="750951" h="218440">
                  <a:moveTo>
                    <a:pt x="0" y="0"/>
                  </a:moveTo>
                  <a:lnTo>
                    <a:pt x="750951" y="0"/>
                  </a:lnTo>
                  <a:lnTo>
                    <a:pt x="750951" y="218440"/>
                  </a:lnTo>
                  <a:lnTo>
                    <a:pt x="0" y="218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5" r="4" b="-11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37964" y="509392"/>
            <a:ext cx="1281483" cy="1144139"/>
            <a:chOff x="0" y="0"/>
            <a:chExt cx="1708644" cy="1525518"/>
          </a:xfrm>
        </p:grpSpPr>
        <p:sp>
          <p:nvSpPr>
            <p:cNvPr id="9" name="Freeform 9"/>
            <p:cNvSpPr/>
            <p:nvPr/>
          </p:nvSpPr>
          <p:spPr>
            <a:xfrm>
              <a:off x="-51689" y="-162052"/>
              <a:ext cx="1760347" cy="1780413"/>
            </a:xfrm>
            <a:custGeom>
              <a:avLst/>
              <a:gdLst/>
              <a:ahLst/>
              <a:cxnLst/>
              <a:rect l="l" t="t" r="r" b="b"/>
              <a:pathLst>
                <a:path w="1760347" h="1780413">
                  <a:moveTo>
                    <a:pt x="84074" y="1006602"/>
                  </a:moveTo>
                  <a:cubicBezTo>
                    <a:pt x="0" y="781304"/>
                    <a:pt x="75946" y="428498"/>
                    <a:pt x="355219" y="322072"/>
                  </a:cubicBezTo>
                  <a:cubicBezTo>
                    <a:pt x="634492" y="215646"/>
                    <a:pt x="1760347" y="0"/>
                    <a:pt x="1760347" y="368554"/>
                  </a:cubicBezTo>
                  <a:cubicBezTo>
                    <a:pt x="1760347" y="737108"/>
                    <a:pt x="1139698" y="1567561"/>
                    <a:pt x="860298" y="1673987"/>
                  </a:cubicBezTo>
                  <a:cubicBezTo>
                    <a:pt x="580898" y="1780413"/>
                    <a:pt x="168275" y="1232027"/>
                    <a:pt x="84074" y="1006602"/>
                  </a:cubicBezTo>
                  <a:close/>
                </a:path>
              </a:pathLst>
            </a:custGeom>
            <a:solidFill>
              <a:srgbClr val="008CE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52468" y="489965"/>
            <a:ext cx="1252475" cy="1118288"/>
            <a:chOff x="0" y="0"/>
            <a:chExt cx="1669966" cy="1491051"/>
          </a:xfrm>
        </p:grpSpPr>
        <p:sp>
          <p:nvSpPr>
            <p:cNvPr id="11" name="Freeform 11"/>
            <p:cNvSpPr/>
            <p:nvPr/>
          </p:nvSpPr>
          <p:spPr>
            <a:xfrm>
              <a:off x="-50546" y="-158369"/>
              <a:ext cx="1720469" cy="1740027"/>
            </a:xfrm>
            <a:custGeom>
              <a:avLst/>
              <a:gdLst/>
              <a:ahLst/>
              <a:cxnLst/>
              <a:rect l="l" t="t" r="r" b="b"/>
              <a:pathLst>
                <a:path w="1720469" h="1740027">
                  <a:moveTo>
                    <a:pt x="82296" y="983869"/>
                  </a:moveTo>
                  <a:cubicBezTo>
                    <a:pt x="0" y="763651"/>
                    <a:pt x="74295" y="418719"/>
                    <a:pt x="347345" y="314833"/>
                  </a:cubicBezTo>
                  <a:cubicBezTo>
                    <a:pt x="620395" y="210947"/>
                    <a:pt x="1720469" y="0"/>
                    <a:pt x="1720469" y="360299"/>
                  </a:cubicBezTo>
                  <a:cubicBezTo>
                    <a:pt x="1720469" y="720598"/>
                    <a:pt x="1113917" y="1532255"/>
                    <a:pt x="840867" y="1636141"/>
                  </a:cubicBezTo>
                  <a:cubicBezTo>
                    <a:pt x="567817" y="1740027"/>
                    <a:pt x="164465" y="1204087"/>
                    <a:pt x="82296" y="983869"/>
                  </a:cubicBezTo>
                  <a:close/>
                </a:path>
              </a:pathLst>
            </a:custGeom>
            <a:blipFill>
              <a:blip r:embed="rId5"/>
              <a:stretch>
                <a:fillRect l="-16967" r="-16968" b="-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392" y="137541"/>
            <a:ext cx="3475158" cy="154315"/>
            <a:chOff x="0" y="0"/>
            <a:chExt cx="4633543" cy="2057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55790" cy="205753"/>
            </a:xfrm>
            <a:custGeom>
              <a:avLst/>
              <a:gdLst/>
              <a:ahLst/>
              <a:cxnLst/>
              <a:rect l="l" t="t" r="r" b="b"/>
              <a:pathLst>
                <a:path w="2955790" h="205753">
                  <a:moveTo>
                    <a:pt x="0" y="0"/>
                  </a:moveTo>
                  <a:lnTo>
                    <a:pt x="2955790" y="0"/>
                  </a:lnTo>
                  <a:lnTo>
                    <a:pt x="2955790" y="205753"/>
                  </a:lnTo>
                  <a:lnTo>
                    <a:pt x="0" y="2057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4633543" cy="20575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723"/>
                </a:lnSpc>
              </a:pPr>
              <a:r>
                <a:rPr lang="en-US" sz="602" b="1" spc="0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Key Capabilities:</a:t>
              </a:r>
              <a:endParaRPr lang="en-US" sz="602" spc="0" dirty="0"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21723" y="1581998"/>
            <a:ext cx="1211232" cy="359344"/>
            <a:chOff x="0" y="0"/>
            <a:chExt cx="1614976" cy="4791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14976" cy="479125"/>
            </a:xfrm>
            <a:custGeom>
              <a:avLst/>
              <a:gdLst/>
              <a:ahLst/>
              <a:cxnLst/>
              <a:rect l="l" t="t" r="r" b="b"/>
              <a:pathLst>
                <a:path w="1614976" h="479125">
                  <a:moveTo>
                    <a:pt x="0" y="0"/>
                  </a:moveTo>
                  <a:lnTo>
                    <a:pt x="1614976" y="0"/>
                  </a:lnTo>
                  <a:lnTo>
                    <a:pt x="1614976" y="479125"/>
                  </a:lnTo>
                  <a:lnTo>
                    <a:pt x="0" y="479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1614976" cy="4791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723"/>
                </a:lnSpc>
              </a:pPr>
              <a:r>
                <a:rPr lang="en-US" sz="600" b="1" spc="0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</a:t>
              </a:r>
              <a:r>
                <a:rPr lang="en-US" sz="600" b="1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choose</a:t>
              </a:r>
              <a:r>
                <a:rPr lang="en-US" sz="600" b="1" spc="0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sz="600" b="1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ACL </a:t>
              </a:r>
              <a:r>
                <a:rPr lang="en-US" sz="600" b="1" dirty="0" err="1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DataHive</a:t>
              </a:r>
              <a:r>
                <a:rPr lang="en-US" sz="600" b="1" spc="0" dirty="0">
                  <a:solidFill>
                    <a:srgbClr val="008CE5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?</a:t>
              </a:r>
            </a:p>
            <a:p>
              <a:pPr algn="l">
                <a:lnSpc>
                  <a:spcPts val="723"/>
                </a:lnSpc>
              </a:pPr>
              <a:endParaRPr lang="en-US" sz="602" b="1" spc="0" dirty="0">
                <a:solidFill>
                  <a:srgbClr val="008CE5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21416" y="4649892"/>
            <a:ext cx="1689339" cy="37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"/>
              </a:lnSpc>
            </a:pPr>
            <a:r>
              <a:rPr lang="en-US" sz="383" spc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ACL Digital is at the forefront of the Experience Portal Transformation service, helping organizations create digital workplace, customer self-service portals, Online Communities, Knowledge &amp; Learning, meaningful eCommerce, and websites to engage customers, partners, employees, and suppliers.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1416" y="5048824"/>
            <a:ext cx="1681643" cy="10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"/>
              </a:lnSpc>
            </a:pPr>
            <a:r>
              <a:rPr lang="en-US" sz="493" b="1" spc="0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www.acldigital.com      </a:t>
            </a:r>
            <a:r>
              <a:rPr lang="en-US" sz="493" spc="0">
                <a:solidFill>
                  <a:srgbClr val="262626"/>
                </a:solidFill>
                <a:latin typeface="Poppins Thin"/>
                <a:ea typeface="Poppins Thin"/>
                <a:cs typeface="Poppins Thin"/>
                <a:sym typeface="Poppins Thin"/>
              </a:rPr>
              <a:t>|</a:t>
            </a:r>
            <a:r>
              <a:rPr lang="en-US" sz="493" b="1" spc="0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     business@acldigital.com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8000" y="5215478"/>
            <a:ext cx="2417301" cy="6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"/>
              </a:lnSpc>
            </a:pPr>
            <a:r>
              <a:rPr lang="en-US" sz="328" spc="0">
                <a:solidFill>
                  <a:srgbClr val="262626"/>
                </a:solidFill>
                <a:latin typeface="Calibri (MS)"/>
                <a:ea typeface="Calibri (MS)"/>
                <a:cs typeface="Calibri (MS)"/>
                <a:sym typeface="Calibri (MS)"/>
              </a:rPr>
              <a:t>© 2020 ACL Digital. All rights reserved. ACL Digital logo is a trademark of ACL Digital. All other company and product names may be trademarks of the respective companies with which they are associated. Proprietary content.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95551" y="1908402"/>
            <a:ext cx="1263080" cy="2528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580" lvl="1" indent="-16290" algn="l">
              <a:lnSpc>
                <a:spcPts val="887"/>
              </a:lnSpc>
              <a:buFont typeface="Arial"/>
              <a:buChar char="•"/>
            </a:pPr>
            <a:r>
              <a:rPr lang="en-US" sz="493" b="1" spc="0" dirty="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Zero-Trust Security Architecture </a:t>
            </a:r>
            <a:r>
              <a:rPr lang="en-US" sz="493" spc="0" dirty="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- </a:t>
            </a:r>
            <a:r>
              <a:rPr lang="en-US" sz="493" dirty="0">
                <a:solidFill>
                  <a:srgbClr val="3F3F3F"/>
                </a:solidFill>
                <a:latin typeface="Poppins Light"/>
                <a:cs typeface="Poppins Light"/>
                <a:sym typeface="Poppins Light"/>
              </a:rPr>
              <a:t>Operates exclusively via outbound agent calls - eliminating the need for inbound firewall rules, open ports, or VPNs to get past security reviews instantly</a:t>
            </a:r>
          </a:p>
          <a:p>
            <a:pPr marL="32580" lvl="1" indent="-16290" algn="l">
              <a:lnSpc>
                <a:spcPts val="887"/>
              </a:lnSpc>
              <a:buFont typeface="Arial"/>
              <a:buChar char="•"/>
            </a:pPr>
            <a:r>
              <a:rPr lang="en-US" sz="493" b="1" spc="0" dirty="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 Idempotent &amp; Self-Healing Delivery </a:t>
            </a:r>
            <a:r>
              <a:rPr lang="en-US" sz="493" spc="0" dirty="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- Positions advance only after the target sink confirms durable commit, eliminating silent drops, duplicate rows, or broken state restarts.</a:t>
            </a:r>
          </a:p>
          <a:p>
            <a:pPr marL="32580" lvl="1" indent="-16290" algn="l">
              <a:lnSpc>
                <a:spcPts val="887"/>
              </a:lnSpc>
              <a:buFont typeface="Arial"/>
              <a:buChar char="•"/>
            </a:pPr>
            <a:r>
              <a:rPr lang="en-US" sz="493" b="1" spc="0" dirty="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Single Universal Substrate </a:t>
            </a:r>
            <a:r>
              <a:rPr lang="en-US" sz="493" spc="0" dirty="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- Replaces fragmented point tools with a single execution foundation across ingestion, CDC, transformation, quality, and governance.</a:t>
            </a:r>
          </a:p>
          <a:p>
            <a:pPr marL="32580" lvl="1" indent="-16290" algn="l">
              <a:lnSpc>
                <a:spcPts val="887"/>
              </a:lnSpc>
              <a:buFont typeface="Arial"/>
              <a:buChar char="•"/>
            </a:pPr>
            <a:r>
              <a:rPr lang="en-US" sz="493" b="1" spc="0" dirty="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Push-Down Minimization &amp; Governance</a:t>
            </a:r>
            <a:r>
              <a:rPr lang="en-US" sz="493" spc="0" dirty="0">
                <a:solidFill>
                  <a:srgbClr val="3F3F3F"/>
                </a:solidFill>
                <a:latin typeface="Poppins Light"/>
                <a:ea typeface="Poppins Light"/>
                <a:cs typeface="Poppins Light"/>
                <a:sym typeface="Poppins Light"/>
              </a:rPr>
              <a:t> - Row filters and column masking are injected straight into the source query, ensuring unapproved PII is never fetched into intermediate memory.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299" y="2646890"/>
            <a:ext cx="2281263" cy="1989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40"/>
              </a:lnSpc>
            </a:pPr>
            <a:endParaRPr lang="en-US" sz="600" dirty="0">
              <a:ea typeface="Calibri"/>
              <a:cs typeface="Calibri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r>
              <a:rPr lang="en-US" sz="500" b="1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Financial Services &amp; Banking: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 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Real-time fraud detection and multi-entity regulatory reporting across legacy core banking systems and modern platforms. Eliminates data drift and guarantees zero-latency, audit-ready compliance across all financial transactions.</a:t>
            </a: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r>
              <a:rPr lang="en-US" sz="500" b="1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Telecommunications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: Large-scale network traffic monitoring, customer churn prediction, and billing reconciliation. Ingests billions of daily CDR (Call Detail Record) events at predictable, cost-bounded compute budgets.</a:t>
            </a: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r>
              <a:rPr lang="en-US" sz="500" b="1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Manufacturing &amp; Supply Chain: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 Predictive equipment maintenance, IoT telemetry ingestion, and global supply chain visibility. Reduces unscheduled operational downtime by streaming high-frequency machine data without overwhelming core infrastructure.</a:t>
            </a: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r>
              <a:rPr lang="en-US" sz="500" b="1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Media &amp; Streaming Platforms: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 Unified user behavior analytics, content recommendation engines, and ad-attribution reporting. Unifies disparate user interaction feeds into a single semantic layer for real-time downstream AI and BI consumption.</a:t>
            </a: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  <a:p>
            <a:pPr algn="just">
              <a:lnSpc>
                <a:spcPts val="540"/>
              </a:lnSpc>
            </a:pP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r>
              <a:rPr lang="en-US" sz="500" b="1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Energy &amp; Utilities: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 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Smart grid telemetry integration, demand-response forecasting, and asset health monitoring. Delivers high-throughput time-series data modeling to optimize energy grid efficiency and prevent outages.</a:t>
            </a: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endParaRPr lang="en-US" sz="500" dirty="0">
              <a:solidFill>
                <a:srgbClr val="000000"/>
              </a:solidFill>
              <a:latin typeface="Poppins"/>
              <a:cs typeface="Poppins"/>
              <a:sym typeface="Poppins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r>
              <a:rPr lang="en-US" sz="500" b="1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Healthcare &amp; Pharmaceuticals: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 Bold"/>
              </a:rPr>
              <a:t> </a:t>
            </a:r>
            <a:r>
              <a:rPr lang="en-US" sz="500" dirty="0">
                <a:solidFill>
                  <a:srgbClr val="000000"/>
                </a:solidFill>
                <a:latin typeface="Poppins"/>
                <a:cs typeface="Poppins"/>
                <a:sym typeface="Poppins"/>
              </a:rPr>
              <a:t>Unified patient health records (EHR) consolidation and clinical trial data pipeline management. Ensures strict HIPAA compliance through automated, zero-trust PII masking and immutable access auditing.</a:t>
            </a: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  <a:p>
            <a:pPr marL="97155" lvl="1" indent="-48260" algn="just">
              <a:lnSpc>
                <a:spcPts val="540"/>
              </a:lnSpc>
              <a:buFont typeface="Arial"/>
              <a:buChar char="•"/>
            </a:pPr>
            <a:endParaRPr lang="en-US" sz="500" dirty="0">
              <a:solidFill>
                <a:srgbClr val="000000"/>
              </a:solidFill>
              <a:latin typeface="Poppins"/>
              <a:cs typeface="Poppi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-134655" y="2551660"/>
            <a:ext cx="1494762" cy="102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700" b="1" spc="0" dirty="0">
                <a:solidFill>
                  <a:srgbClr val="008CE5"/>
                </a:solidFill>
                <a:latin typeface="Poppins Bold"/>
                <a:ea typeface="Poppins Bold"/>
                <a:cs typeface="Poppins Bold"/>
                <a:sym typeface="Poppins Bold"/>
              </a:rPr>
              <a:t>Industry Applications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E73A416-D421-7BD8-3EFC-53304F3AA3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967467"/>
              </p:ext>
            </p:extLst>
          </p:nvPr>
        </p:nvGraphicFramePr>
        <p:xfrm>
          <a:off x="65832" y="389217"/>
          <a:ext cx="2366977" cy="2108754"/>
        </p:xfrm>
        <a:graphic>
          <a:graphicData uri="http://schemas.openxmlformats.org/drawingml/2006/table">
            <a:tbl>
              <a:tblPr/>
              <a:tblGrid>
                <a:gridCol w="693902">
                  <a:extLst>
                    <a:ext uri="{9D8B030D-6E8A-4147-A177-3AD203B41FA5}">
                      <a16:colId xmlns:a16="http://schemas.microsoft.com/office/drawing/2014/main" val="790989534"/>
                    </a:ext>
                  </a:extLst>
                </a:gridCol>
                <a:gridCol w="809552">
                  <a:extLst>
                    <a:ext uri="{9D8B030D-6E8A-4147-A177-3AD203B41FA5}">
                      <a16:colId xmlns:a16="http://schemas.microsoft.com/office/drawing/2014/main" val="2032245526"/>
                    </a:ext>
                  </a:extLst>
                </a:gridCol>
                <a:gridCol w="863523">
                  <a:extLst>
                    <a:ext uri="{9D8B030D-6E8A-4147-A177-3AD203B41FA5}">
                      <a16:colId xmlns:a16="http://schemas.microsoft.com/office/drawing/2014/main" val="1501525430"/>
                    </a:ext>
                  </a:extLst>
                </a:gridCol>
              </a:tblGrid>
              <a:tr h="2606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Capability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Legacy Approach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Unified Substrate (Game Changer)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725905"/>
                  </a:ext>
                </a:extLst>
              </a:tr>
              <a:tr h="2467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Ingestion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Row-by-row JDBC pulls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Bulk stage unloads &amp; native file reads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299950"/>
                  </a:ext>
                </a:extLst>
              </a:tr>
              <a:tr h="2467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Pipelines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Fragile, manual retries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Idempotent, self-healing execution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706"/>
                  </a:ext>
                </a:extLst>
              </a:tr>
              <a:tr h="2467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Transformation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Multi-tool data movement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In-engine pushdown &amp; incremental diffs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886611"/>
                  </a:ext>
                </a:extLst>
              </a:tr>
              <a:tr h="2467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Quality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Post-hoc manual checks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Inline circuit breakers &amp; DLQ routing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989883"/>
                  </a:ext>
                </a:extLst>
              </a:tr>
              <a:tr h="3678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Governance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Application-level masking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Query-injected masking &amp; WORM audit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055444"/>
                  </a:ext>
                </a:extLst>
              </a:tr>
              <a:tr h="2467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Monitoring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Disconnected APM logs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Single run_id lineage + FinOps budgets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984613"/>
                  </a:ext>
                </a:extLst>
              </a:tr>
              <a:tr h="2467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Serving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Duplicated metric logic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Universal semantic layer</a:t>
                      </a:r>
                    </a:p>
                  </a:txBody>
                  <a:tcPr marR="7620" marT="762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639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946</Words>
  <Application>Microsoft Office PowerPoint</Application>
  <PresentationFormat>Custom</PresentationFormat>
  <Paragraphs>71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Poppins</vt:lpstr>
      <vt:lpstr>Poppins Medium</vt:lpstr>
      <vt:lpstr>Calibri (MS)</vt:lpstr>
      <vt:lpstr>Arial</vt:lpstr>
      <vt:lpstr>Poppins Bold</vt:lpstr>
      <vt:lpstr>Calibri</vt:lpstr>
      <vt:lpstr>Poppins Light</vt:lpstr>
      <vt:lpstr>Poppins Thin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Brochure - RiskLex (1).pptx</dc:title>
  <dc:creator>Ramana Nagarajan</dc:creator>
  <cp:lastModifiedBy>Ramana Nagarajan</cp:lastModifiedBy>
  <cp:revision>123</cp:revision>
  <dcterms:created xsi:type="dcterms:W3CDTF">2006-08-16T00:00:00Z</dcterms:created>
  <dcterms:modified xsi:type="dcterms:W3CDTF">2026-07-23T12:52:36Z</dcterms:modified>
  <dc:identifier>DAG172qKkZk</dc:identifier>
</cp:coreProperties>
</file>